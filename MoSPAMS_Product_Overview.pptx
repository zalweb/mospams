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480560" y="1005840"/>
            <a:ext cx="3200400" cy="34747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81728" y="1133856"/>
            <a:ext cx="82296" cy="8229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00600" y="102412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4D4D8"/>
                </a:solidFill>
                <a:latin typeface="Segoe UI"/>
              </a:rPr>
              <a:t>Multi-Tenant SaaS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508760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Segoe UI"/>
              </a:rPr>
              <a:t>Transform your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0280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A1A1AA"/>
                </a:solidFill>
                <a:latin typeface="Segoe UI"/>
              </a:rPr>
              <a:t>motorcycle 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971800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Segoe UI"/>
              </a:rPr>
              <a:t>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3840480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1A1AA"/>
                </a:solidFill>
                <a:latin typeface="Segoe UI"/>
              </a:rPr>
              <a:t>All-in-one SaaS platform for inventory, service jobs, sales, reports, and team management.
Multi-tenant by design — each shop gets its own branded subdomain.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484632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487375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Secure &amp; Reliable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0" y="484632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487375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Real-time Sync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0" y="484632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487375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Analytics Included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6400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1717A"/>
                </a:solidFill>
                <a:latin typeface="Segoe UI"/>
              </a:rPr>
              <a:t>MoSPAMS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64008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1717A"/>
                </a:solidFill>
                <a:latin typeface="Segoe UI"/>
              </a:rPr>
              <a:t>mospams.shop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About MoSPAMS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Built for small-to-medium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A1A1AA"/>
                </a:solidFill>
                <a:latin typeface="Segoe UI"/>
              </a:rPr>
              <a:t>motorcycle businesses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48840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1A1AA"/>
                </a:solidFill>
                <a:latin typeface="Segoe UI"/>
              </a:rPr>
              <a:t>MoSPAMS is designed to reduce manual paperwork, prevent stock
discrepancies, organize service records, speed up transactions, and
provide useful business insights for motorcycle repair shops and parts retailers.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200400"/>
            <a:ext cx="5486400" cy="868680"/>
          </a:xfrm>
          <a:prstGeom prst="rect">
            <a:avLst/>
          </a:prstGeom>
          <a:solidFill>
            <a:srgbClr val="18181B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7355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Reduce Manual Errors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204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Eliminate handwritten records and spreadsheet mistakes. MoSPAMS keeps all data accurate.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206240"/>
            <a:ext cx="5486400" cy="868680"/>
          </a:xfrm>
          <a:prstGeom prst="rect">
            <a:avLst/>
          </a:prstGeom>
          <a:solidFill>
            <a:srgbClr val="18181B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27939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Improve Shop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Speed up service jobs, transactions, and stock updates so your team does more real work.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212080"/>
            <a:ext cx="5486400" cy="868680"/>
          </a:xfrm>
          <a:prstGeom prst="rect">
            <a:avLst/>
          </a:prstGeom>
          <a:solidFill>
            <a:srgbClr val="18181B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28523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Make Better Business Decisions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321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Use sales reports, inventory summaries, and service data to grow your shop smarter.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822960"/>
            <a:ext cx="2286000" cy="1097280"/>
          </a:xfrm>
          <a:prstGeom prst="rect">
            <a:avLst/>
          </a:prstGeom>
          <a:solidFill>
            <a:srgbClr val="18181B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960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Segoe UI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4813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1A1AA"/>
                </a:solidFill>
                <a:latin typeface="Segoe UI"/>
              </a:rPr>
              <a:t>Cloud-Based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822960"/>
            <a:ext cx="2286000" cy="1097280"/>
          </a:xfrm>
          <a:prstGeom prst="rect">
            <a:avLst/>
          </a:prstGeom>
          <a:solidFill>
            <a:srgbClr val="18181B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960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14813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1A1AA"/>
                </a:solidFill>
                <a:latin typeface="Segoe UI"/>
              </a:rPr>
              <a:t>User Roles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2194560"/>
            <a:ext cx="2286000" cy="1097280"/>
          </a:xfrm>
          <a:prstGeom prst="rect">
            <a:avLst/>
          </a:prstGeom>
          <a:solidFill>
            <a:srgbClr val="18181B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23317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Segoe UI"/>
              </a:rPr>
              <a:t>5+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28529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1A1AA"/>
                </a:solidFill>
                <a:latin typeface="Segoe UI"/>
              </a:rPr>
              <a:t>Report Types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0" y="2194560"/>
            <a:ext cx="2286000" cy="1097280"/>
          </a:xfrm>
          <a:prstGeom prst="rect">
            <a:avLst/>
          </a:prstGeom>
          <a:solidFill>
            <a:srgbClr val="18181B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0" y="23317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Segoe UI"/>
              </a:rPr>
              <a:t>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8529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1A1AA"/>
                </a:solidFill>
                <a:latin typeface="Segoe UI"/>
              </a:rPr>
              <a:t>Transactions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3611880"/>
            <a:ext cx="5120640" cy="2651760"/>
          </a:xfrm>
          <a:prstGeom prst="rect">
            <a:avLst/>
          </a:prstGeom>
          <a:solidFill>
            <a:srgbClr val="18181B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374903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Version 1.0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4114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1A1AA"/>
                </a:solidFill>
                <a:latin typeface="Segoe UI"/>
              </a:rPr>
              <a:t>SaaS Platform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44348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1A1AA"/>
                </a:solidFill>
                <a:latin typeface="Segoe UI"/>
              </a:rPr>
              <a:t>MoSPAMS is a full multi-tenant SaaS platform. Owner, Staff,
Mechanic, and Customer roles are all active with dedicated
dashboards and workflows.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525780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0" y="528523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Inventory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525780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0" y="528523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Services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525780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528523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Sales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525780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0" y="528523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Reports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0" y="5550408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49440" y="5577840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Users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6720" y="5550408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38160" y="5577840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Branding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35440" y="5550408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0" y="5577840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Multi-Tenancy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24160" y="5550408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15600" y="5577840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Google Auth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6400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1717A"/>
                </a:solidFill>
                <a:latin typeface="Segoe UI"/>
              </a:rPr>
              <a:t>MoSPAMS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0" y="64008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1717A"/>
                </a:solidFill>
                <a:latin typeface="Segoe UI"/>
              </a:rPr>
              <a:t>mospams.shop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9319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Core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Powerful features built for motorcycle shop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98448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1A1AA"/>
                </a:solidFill>
                <a:latin typeface="Segoe UI"/>
              </a:rPr>
              <a:t>Everything your shop needs — inventory, service jobs, team management, and branding.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828800"/>
            <a:ext cx="3749039" cy="2148840"/>
          </a:xfrm>
          <a:prstGeom prst="rect">
            <a:avLst/>
          </a:prstGeom>
          <a:solidFill>
            <a:srgbClr val="18181B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84632" y="1993392"/>
            <a:ext cx="274320" cy="274320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235915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Inventory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2670048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Track parts, categories, stock movements, low-stock alerts, and barcode lookups.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" y="356616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359359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Stock Tracking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73352" y="356616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64792" y="359359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Categories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62072" y="356616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53512" y="359359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Low-Stock Alerts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1828800"/>
            <a:ext cx="3749039" cy="2148840"/>
          </a:xfrm>
          <a:prstGeom prst="rect">
            <a:avLst/>
          </a:prstGeom>
          <a:solidFill>
            <a:srgbClr val="18181B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16552" y="1993392"/>
            <a:ext cx="274320" cy="274320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6552" y="235915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Service Job Tracking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2" y="2670048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Create service records, assign mechanics, attach parts, and track job status.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16552" y="356616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07992" y="359359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Mechanic Assignment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05272" y="356616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96712" y="359359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Job Parts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93992" y="356616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85432" y="359359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Status Flow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80" y="1828800"/>
            <a:ext cx="3749039" cy="2148840"/>
          </a:xfrm>
          <a:prstGeom prst="rect">
            <a:avLst/>
          </a:prstGeom>
          <a:solidFill>
            <a:srgbClr val="18181B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48472" y="1993392"/>
            <a:ext cx="274320" cy="274320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48472" y="235915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Sales &amp; Transactions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8472" y="2670048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Record parts-only and service transactions with Cash and GCash payment tracking.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48472" y="356616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359359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Cash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37192" y="356616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28632" y="359359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GCash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725912" y="356616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17352" y="359359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Discounts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160520"/>
            <a:ext cx="3749039" cy="2148840"/>
          </a:xfrm>
          <a:prstGeom prst="rect">
            <a:avLst/>
          </a:prstGeom>
          <a:solidFill>
            <a:srgbClr val="18181B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" y="4325112"/>
            <a:ext cx="274320" cy="274320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" y="469087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Reports &amp; Analytics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" y="5001768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Sales reports, inventory summaries, service performance, and real-time KPI dashboard.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" y="589788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6072" y="592531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Sales Report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73352" y="589788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764792" y="592531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Income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62072" y="589788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953512" y="592531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Dashboard KPIs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51960" y="4160520"/>
            <a:ext cx="3749039" cy="2148840"/>
          </a:xfrm>
          <a:prstGeom prst="rect">
            <a:avLst/>
          </a:prstGeom>
          <a:solidFill>
            <a:srgbClr val="18181B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416552" y="4325112"/>
            <a:ext cx="274320" cy="274320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16552" y="469087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Role-Based Access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16552" y="5001768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Five distinct roles — Owner, Staff, Mechanic, and Customer — each with tailored permissions.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16552" y="589788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07992" y="592531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5 Roles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05272" y="589788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96712" y="592531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Permissions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93992" y="589788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85432" y="592531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Google Sign-In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83880" y="4160520"/>
            <a:ext cx="3749039" cy="2148840"/>
          </a:xfrm>
          <a:prstGeom prst="rect">
            <a:avLst/>
          </a:prstGeom>
          <a:solidFill>
            <a:srgbClr val="18181B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348472" y="4325112"/>
            <a:ext cx="274320" cy="274320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48472" y="469087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Multi-Tenant &amp; Branding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48472" y="5001768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Each shop gets its own subdomain, logo, color scheme, and fully isolated data.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348472" y="589788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39912" y="592531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Subdomains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537192" y="589788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28632" y="592531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Shop Branding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725912" y="589788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817352" y="592531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Data Isolation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4320" y="6400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1717A"/>
                </a:solidFill>
                <a:latin typeface="Segoe UI"/>
              </a:rPr>
              <a:t>MoSPAMS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0" y="64008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1717A"/>
                </a:solidFill>
                <a:latin typeface="Segoe UI"/>
              </a:rPr>
              <a:t>mospams.shop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9319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Dashboard Preview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Real-time shop overview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9844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1A1AA"/>
                </a:solidFill>
                <a:latin typeface="Segoe UI"/>
              </a:rPr>
              <a:t>KPI cards, sales charts, and live data — all in one unified dashboard.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83080"/>
            <a:ext cx="11430000" cy="4663440"/>
          </a:xfrm>
          <a:prstGeom prst="rect">
            <a:avLst/>
          </a:prstGeom>
          <a:solidFill>
            <a:srgbClr val="18181B"/>
          </a:solidFill>
          <a:ln w="9525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MoSPAMS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Real-time overview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0" y="1920240"/>
            <a:ext cx="1463040" cy="256032"/>
          </a:xfrm>
          <a:prstGeom prst="rect">
            <a:avLst/>
          </a:prstGeom>
          <a:solidFill>
            <a:srgbClr val="052E16"/>
          </a:solidFill>
          <a:ln w="6350">
            <a:solidFill>
              <a:srgbClr val="145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222992" y="1993392"/>
            <a:ext cx="91440" cy="914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51008" y="192024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DE80"/>
                </a:solidFill>
                <a:latin typeface="Segoe UI"/>
              </a:rPr>
              <a:t>Live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2286000"/>
            <a:ext cx="11247120" cy="0"/>
          </a:xfrm>
          <a:prstGeom prst="line">
            <a:avLst/>
          </a:prstGeom>
          <a:ln w="6350">
            <a:solidFill>
              <a:srgbClr val="3F3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594360" y="2423160"/>
            <a:ext cx="2560320" cy="914400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48716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72491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"/>
              </a:rPr>
              <a:t>PHP 48.2K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04495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DE80"/>
                </a:solidFill>
                <a:latin typeface="Segoe UI"/>
              </a:rPr>
              <a:t>+12%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2423160"/>
            <a:ext cx="2560320" cy="914400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248716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Active Jobs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272491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04495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DE80"/>
                </a:solidFill>
                <a:latin typeface="Segoe UI"/>
              </a:rPr>
              <a:t>+3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2423160"/>
            <a:ext cx="2560320" cy="914400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8716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Parts Stock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72491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"/>
              </a:rPr>
              <a:t>1,247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04495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1717A"/>
                </a:solidFill>
                <a:latin typeface="Segoe UI"/>
              </a:rPr>
              <a:t>-8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61120" y="2423160"/>
            <a:ext cx="2560320" cy="914400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98280" y="248716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Completed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272491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"/>
              </a:rPr>
              <a:t>128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304495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DE80"/>
                </a:solidFill>
                <a:latin typeface="Segoe UI"/>
              </a:rPr>
              <a:t>+8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3493008"/>
            <a:ext cx="10927080" cy="2606040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361188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Sales Performance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3886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PHP 125,450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0" y="3611880"/>
            <a:ext cx="1097280" cy="256032"/>
          </a:xfrm>
          <a:prstGeom prst="rect">
            <a:avLst/>
          </a:prstGeom>
          <a:solidFill>
            <a:srgbClr val="052E16"/>
          </a:solidFill>
          <a:ln w="6350">
            <a:solidFill>
              <a:srgbClr val="145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95560" y="361188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ADE80"/>
                </a:solidFill>
                <a:latin typeface="Segoe UI"/>
              </a:rPr>
              <a:t>+18.2%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5321808"/>
            <a:ext cx="502920" cy="576072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453896" y="5001768"/>
            <a:ext cx="502920" cy="896112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130552" y="5193792"/>
            <a:ext cx="502920" cy="704088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07208" y="4809744"/>
            <a:ext cx="502920" cy="1088136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83864" y="5129784"/>
            <a:ext cx="502920" cy="768096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60520" y="4681728"/>
            <a:ext cx="502920" cy="1216152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37176" y="4937760"/>
            <a:ext cx="502920" cy="96012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513832" y="4745736"/>
            <a:ext cx="502920" cy="1152144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90488" y="5065776"/>
            <a:ext cx="502920" cy="832104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867144" y="4771339"/>
            <a:ext cx="502920" cy="112654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43800" y="5001768"/>
            <a:ext cx="502920" cy="896112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220456" y="4720132"/>
            <a:ext cx="502920" cy="1177747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897112" y="4899355"/>
            <a:ext cx="502920" cy="998524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573768" y="4681728"/>
            <a:ext cx="502920" cy="1216152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250424" y="4848148"/>
            <a:ext cx="502920" cy="1049731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927080" y="4771339"/>
            <a:ext cx="502920" cy="112654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371600" y="59618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Segoe UI"/>
              </a:rPr>
              <a:t>Jan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9080" y="59618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Segoe UI"/>
              </a:rPr>
              <a:t>Feb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59618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Segoe UI"/>
              </a:rPr>
              <a:t>Mar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64040" y="59618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Segoe UI"/>
              </a:rPr>
              <a:t>Apr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4320" y="6400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1717A"/>
                </a:solidFill>
                <a:latin typeface="Segoe UI"/>
              </a:rPr>
              <a:t>MoSPAMS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75520" y="64008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1717A"/>
                </a:solidFill>
                <a:latin typeface="Segoe UI"/>
              </a:rPr>
              <a:t>mospams.shop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9319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User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Designed for real shop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9844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1A1AA"/>
                </a:solidFill>
                <a:latin typeface="Segoe UI"/>
              </a:rPr>
              <a:t>Role-based access ensures every team member sees exactly what they need — nothing more, nothing less.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828800"/>
            <a:ext cx="2743200" cy="4434840"/>
          </a:xfrm>
          <a:prstGeom prst="rect">
            <a:avLst/>
          </a:prstGeom>
          <a:solidFill>
            <a:srgbClr val="18181B"/>
          </a:solidFill>
          <a:ln w="9525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828800"/>
            <a:ext cx="2743200" cy="914400"/>
          </a:xfrm>
          <a:prstGeom prst="rect">
            <a:avLst/>
          </a:prstGeom>
          <a:solidFill>
            <a:srgbClr val="27272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196596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Owner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" y="2377440"/>
            <a:ext cx="1371600" cy="256032"/>
          </a:xfrm>
          <a:prstGeom prst="rect">
            <a:avLst/>
          </a:prstGeom>
          <a:solidFill>
            <a:srgbClr val="052E16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240487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DE80"/>
                </a:solidFill>
                <a:latin typeface="Segoe UI"/>
              </a:rPr>
              <a:t>Primary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84248" y="1865376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75688" y="1892808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9090B"/>
                </a:solidFill>
                <a:latin typeface="Segoe UI"/>
              </a:rPr>
              <a:t>Primary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2834640"/>
            <a:ext cx="2423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Full shop access: inventory, service jobs, sales, reports, user management, shop branding, and activity logs.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" y="3703320"/>
            <a:ext cx="82296" cy="8229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6118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4D4D8"/>
                </a:solidFill>
                <a:latin typeface="Segoe UI"/>
              </a:rPr>
              <a:t>Inventory Management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4050792"/>
            <a:ext cx="82296" cy="8229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5935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4D4D8"/>
                </a:solidFill>
                <a:latin typeface="Segoe UI"/>
              </a:rPr>
              <a:t>Service Jobs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" y="4398264"/>
            <a:ext cx="82296" cy="8229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3068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4D4D8"/>
                </a:solidFill>
                <a:latin typeface="Segoe UI"/>
              </a:rPr>
              <a:t>Sales &amp; Transactions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" y="4745736"/>
            <a:ext cx="82296" cy="8229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4D4D8"/>
                </a:solidFill>
                <a:latin typeface="Segoe UI"/>
              </a:rPr>
              <a:t>Reports &amp; Analytics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" y="5093208"/>
            <a:ext cx="82296" cy="8229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001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4D4D8"/>
                </a:solidFill>
                <a:latin typeface="Segoe UI"/>
              </a:rPr>
              <a:t>User Management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" y="5440680"/>
            <a:ext cx="82296" cy="8229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349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4D4D8"/>
                </a:solidFill>
                <a:latin typeface="Segoe UI"/>
              </a:rPr>
              <a:t>Shop Branding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" y="5788152"/>
            <a:ext cx="82296" cy="8229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6967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4D4D8"/>
                </a:solidFill>
                <a:latin typeface="Segoe UI"/>
              </a:rPr>
              <a:t>Activity Logs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46120" y="1828800"/>
            <a:ext cx="2743200" cy="4434840"/>
          </a:xfrm>
          <a:prstGeom prst="rect">
            <a:avLst/>
          </a:prstGeom>
          <a:solidFill>
            <a:srgbClr val="18181B"/>
          </a:solidFill>
          <a:ln w="9525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46120" y="1828800"/>
            <a:ext cx="2743200" cy="914400"/>
          </a:xfrm>
          <a:prstGeom prst="rect">
            <a:avLst/>
          </a:prstGeom>
          <a:solidFill>
            <a:srgbClr val="27272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10712" y="196596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Staff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10712" y="2377440"/>
            <a:ext cx="1371600" cy="256032"/>
          </a:xfrm>
          <a:prstGeom prst="rect">
            <a:avLst/>
          </a:prstGeom>
          <a:solidFill>
            <a:srgbClr val="052E16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02152" y="240487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DE80"/>
                </a:solidFill>
                <a:latin typeface="Segoe UI"/>
              </a:rPr>
              <a:t>Active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10712" y="2834640"/>
            <a:ext cx="2423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Operational access to daily shop tasks: manage inventory, service jobs, sales transactions, and view reports.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10712" y="3703320"/>
            <a:ext cx="82296" cy="8229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66160" y="36118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4D4D8"/>
                </a:solidFill>
                <a:latin typeface="Segoe UI"/>
              </a:rPr>
              <a:t>Inventory Management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10712" y="4050792"/>
            <a:ext cx="82296" cy="8229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66160" y="395935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4D4D8"/>
                </a:solidFill>
                <a:latin typeface="Segoe UI"/>
              </a:rPr>
              <a:t>Stock Movements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10712" y="4398264"/>
            <a:ext cx="82296" cy="8229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66160" y="43068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4D4D8"/>
                </a:solidFill>
                <a:latin typeface="Segoe UI"/>
              </a:rPr>
              <a:t>Service Job Mgmt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10712" y="4745736"/>
            <a:ext cx="82296" cy="8229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66160" y="465429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4D4D8"/>
                </a:solidFill>
                <a:latin typeface="Segoe UI"/>
              </a:rPr>
              <a:t>Sales &amp; Transactions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10712" y="5093208"/>
            <a:ext cx="82296" cy="8229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66160" y="5001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4D4D8"/>
                </a:solidFill>
                <a:latin typeface="Segoe UI"/>
              </a:rPr>
              <a:t>View Reports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72200" y="1828800"/>
            <a:ext cx="2743200" cy="4434840"/>
          </a:xfrm>
          <a:prstGeom prst="rect">
            <a:avLst/>
          </a:prstGeom>
          <a:solidFill>
            <a:srgbClr val="18181B"/>
          </a:solidFill>
          <a:ln w="9525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72200" y="1828800"/>
            <a:ext cx="2743200" cy="914400"/>
          </a:xfrm>
          <a:prstGeom prst="rect">
            <a:avLst/>
          </a:prstGeom>
          <a:solidFill>
            <a:srgbClr val="27272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36792" y="196596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Mechanic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36792" y="2377440"/>
            <a:ext cx="1371600" cy="256032"/>
          </a:xfrm>
          <a:prstGeom prst="rect">
            <a:avLst/>
          </a:prstGeom>
          <a:solidFill>
            <a:srgbClr val="052E16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28232" y="240487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DE80"/>
                </a:solidFill>
                <a:latin typeface="Segoe UI"/>
              </a:rPr>
              <a:t>Active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36792" y="2834640"/>
            <a:ext cx="2423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Dedicated dashboard for assigned service jobs. View job details, update status, add or remove parts used.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36792" y="3703320"/>
            <a:ext cx="82296" cy="8229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92240" y="36118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4D4D8"/>
                </a:solidFill>
                <a:latin typeface="Segoe UI"/>
              </a:rPr>
              <a:t>View Assigned Jobs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36792" y="4050792"/>
            <a:ext cx="82296" cy="8229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92240" y="395935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4D4D8"/>
                </a:solidFill>
                <a:latin typeface="Segoe UI"/>
              </a:rPr>
              <a:t>Update Job Status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36792" y="4398264"/>
            <a:ext cx="82296" cy="8229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92240" y="43068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4D4D8"/>
                </a:solidFill>
                <a:latin typeface="Segoe UI"/>
              </a:rPr>
              <a:t>Add/Remove Parts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36792" y="4745736"/>
            <a:ext cx="82296" cy="8229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92240" y="465429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4D4D8"/>
                </a:solidFill>
                <a:latin typeface="Segoe UI"/>
              </a:rPr>
              <a:t>Job Details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098280" y="1828800"/>
            <a:ext cx="2743200" cy="4434840"/>
          </a:xfrm>
          <a:prstGeom prst="rect">
            <a:avLst/>
          </a:prstGeom>
          <a:solidFill>
            <a:srgbClr val="18181B"/>
          </a:solidFill>
          <a:ln w="9525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098280" y="1828800"/>
            <a:ext cx="2743200" cy="914400"/>
          </a:xfrm>
          <a:prstGeom prst="rect">
            <a:avLst/>
          </a:prstGeom>
          <a:solidFill>
            <a:srgbClr val="27272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62872" y="196596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Customer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62872" y="2377440"/>
            <a:ext cx="1371600" cy="256032"/>
          </a:xfrm>
          <a:prstGeom prst="rect">
            <a:avLst/>
          </a:prstGeom>
          <a:solidFill>
            <a:srgbClr val="052E16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354312" y="240487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DE80"/>
                </a:solidFill>
                <a:latin typeface="Segoe UI"/>
              </a:rPr>
              <a:t>Active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62872" y="2834640"/>
            <a:ext cx="2423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Self-service portal: view service history, submit service requests, and track payment records.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262872" y="3703320"/>
            <a:ext cx="82296" cy="8229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418320" y="36118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4D4D8"/>
                </a:solidFill>
                <a:latin typeface="Segoe UI"/>
              </a:rPr>
              <a:t>View Service History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262872" y="4050792"/>
            <a:ext cx="82296" cy="8229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418320" y="395935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4D4D8"/>
                </a:solidFill>
                <a:latin typeface="Segoe UI"/>
              </a:rPr>
              <a:t>Create Service Requests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262872" y="4398264"/>
            <a:ext cx="82296" cy="8229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418320" y="43068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4D4D8"/>
                </a:solidFill>
                <a:latin typeface="Segoe UI"/>
              </a:rPr>
              <a:t>Payment History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6080760"/>
            <a:ext cx="11430000" cy="548640"/>
          </a:xfrm>
          <a:prstGeom prst="rect">
            <a:avLst/>
          </a:prstGeom>
          <a:solidFill>
            <a:srgbClr val="18181B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94360" y="614476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Role-Based Onboarding:  New team members sign up with Google and request their role. The Owner approves each request before access is granted.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4320" y="64922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1717A"/>
                </a:solidFill>
                <a:latin typeface="Segoe UI"/>
              </a:rPr>
              <a:t>MoSPAMS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75520" y="64922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1717A"/>
                </a:solidFill>
                <a:latin typeface="Segoe UI"/>
              </a:rPr>
              <a:t>mospams.shop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9319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Simple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Segoe UI"/>
              </a:rPr>
              <a:t>Choose your perfect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298448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1A1AA"/>
                </a:solidFill>
                <a:latin typeface="Segoe UI"/>
              </a:rPr>
              <a:t>Flexible pricing for shops of all sizes. Start free, upgrade anytime.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783080"/>
            <a:ext cx="3749039" cy="4572000"/>
          </a:xfrm>
          <a:prstGeom prst="rect">
            <a:avLst/>
          </a:prstGeom>
          <a:solidFill>
            <a:srgbClr val="18181B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1A1AA"/>
                </a:solidFill>
                <a:latin typeface="Segoe UI"/>
              </a:rPr>
              <a:t>Basic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12848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₱499/month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7919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1A1AA"/>
                </a:solidFill>
                <a:latin typeface="Segoe UI"/>
              </a:rPr>
              <a:t>Perfect for small shops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3017520"/>
            <a:ext cx="3383280" cy="0"/>
          </a:xfrm>
          <a:prstGeom prst="line">
            <a:avLst/>
          </a:prstGeom>
          <a:ln w="6350">
            <a:solidFill>
              <a:srgbClr val="3F3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21208" y="3246120"/>
            <a:ext cx="91440" cy="91440"/>
          </a:xfrm>
          <a:prstGeom prst="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154680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Always know what parts you have in stock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208" y="3630168"/>
            <a:ext cx="91440" cy="91440"/>
          </a:xfrm>
          <a:prstGeom prst="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3872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Handle up to 50 service jobs per month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1208" y="4014216"/>
            <a:ext cx="91440" cy="91440"/>
          </a:xfrm>
          <a:prstGeom prst="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See your daily sales and earnings at a glance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8" y="4398264"/>
            <a:ext cx="91440" cy="91440"/>
          </a:xfrm>
          <a:prstGeom prst="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306824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Invite up to 2 staff to help run the shop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1208" y="4782312"/>
            <a:ext cx="91440" cy="91440"/>
          </a:xfrm>
          <a:prstGeom prst="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690872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Get your own shop page on mospams.shop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1208" y="5166360"/>
            <a:ext cx="91440" cy="91440"/>
          </a:xfrm>
          <a:prstGeom prst="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74920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Simple customer records and service tracking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852160"/>
            <a:ext cx="3383280" cy="34747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870448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Get Started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1783080"/>
            <a:ext cx="3749039" cy="4572000"/>
          </a:xfrm>
          <a:prstGeom prst="rect">
            <a:avLst/>
          </a:prstGeom>
          <a:solidFill>
            <a:srgbClr val="27272A"/>
          </a:solidFill>
          <a:ln w="1270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185623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1883664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9090B"/>
                </a:solidFill>
                <a:latin typeface="Segoe UI"/>
              </a:rPr>
              <a:t>Most Popular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192024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1A1AA"/>
                </a:solidFill>
                <a:latin typeface="Segoe UI"/>
              </a:rPr>
              <a:t>Premium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2212848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₱999/month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267919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1A1AA"/>
                </a:solidFill>
                <a:latin typeface="Segoe UI"/>
              </a:rPr>
              <a:t>Best for growing shops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434840" y="3017520"/>
            <a:ext cx="3383280" cy="0"/>
          </a:xfrm>
          <a:prstGeom prst="line">
            <a:avLst/>
          </a:prstGeom>
          <a:ln w="6350">
            <a:solidFill>
              <a:srgbClr val="3F3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453128" y="3246120"/>
            <a:ext cx="91440" cy="91440"/>
          </a:xfrm>
          <a:prstGeom prst="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7720" y="3154680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No limits on parts, jobs, or customers — ever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53128" y="3630168"/>
            <a:ext cx="91440" cy="91440"/>
          </a:xfrm>
          <a:prstGeom prst="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17720" y="353872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Assign mechanics and track every job in real time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53128" y="4014216"/>
            <a:ext cx="91440" cy="91440"/>
          </a:xfrm>
          <a:prstGeom prst="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17720" y="3922776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Customers can book services and view history online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53128" y="4398264"/>
            <a:ext cx="91440" cy="91440"/>
          </a:xfrm>
          <a:prstGeom prst="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17720" y="4306824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Know exactly what is selling and earning money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53128" y="4782312"/>
            <a:ext cx="91440" cy="91440"/>
          </a:xfrm>
          <a:prstGeom prst="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17720" y="4690872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Get alerts before you run out of critical parts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53128" y="5166360"/>
            <a:ext cx="91440" cy="91440"/>
          </a:xfrm>
          <a:prstGeom prst="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17720" y="5074920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Your brand, your colors, your logo on everything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53128" y="5550408"/>
            <a:ext cx="91440" cy="91440"/>
          </a:xfrm>
          <a:prstGeom prst="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17720" y="545896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Up to 10 staff accounts for your whole team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34840" y="5852160"/>
            <a:ext cx="33832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34840" y="5870448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9090B"/>
                </a:solidFill>
                <a:latin typeface="Segoe UI"/>
              </a:rPr>
              <a:t>Get Started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83880" y="1783080"/>
            <a:ext cx="3749039" cy="4572000"/>
          </a:xfrm>
          <a:prstGeom prst="rect">
            <a:avLst/>
          </a:prstGeom>
          <a:solidFill>
            <a:srgbClr val="18181B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66760" y="192024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1A1AA"/>
                </a:solidFill>
                <a:latin typeface="Segoe UI"/>
              </a:rPr>
              <a:t>Enterprise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60" y="2212848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Custom Pricing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66760" y="267919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1A1AA"/>
                </a:solidFill>
                <a:latin typeface="Segoe UI"/>
              </a:rPr>
              <a:t>Tailored for large operations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366760" y="3017520"/>
            <a:ext cx="3383280" cy="0"/>
          </a:xfrm>
          <a:prstGeom prst="line">
            <a:avLst/>
          </a:prstGeom>
          <a:ln w="6350">
            <a:solidFill>
              <a:srgbClr val="3F3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8385048" y="3246120"/>
            <a:ext cx="91440" cy="91440"/>
          </a:xfrm>
          <a:prstGeom prst="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49640" y="3154680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All Premium features, no exceptions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85048" y="3630168"/>
            <a:ext cx="91440" cy="91440"/>
          </a:xfrm>
          <a:prstGeom prst="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49640" y="353872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Unlimited staff with role-based access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85048" y="4014216"/>
            <a:ext cx="91440" cy="91440"/>
          </a:xfrm>
          <a:prstGeom prst="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49640" y="3922776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Dedicated support with guaranteed response time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85048" y="4398264"/>
            <a:ext cx="91440" cy="91440"/>
          </a:xfrm>
          <a:prstGeom prst="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49640" y="4306824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Custom setup and onboarding assistance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85048" y="4782312"/>
            <a:ext cx="91440" cy="91440"/>
          </a:xfrm>
          <a:prstGeom prst="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49640" y="4690872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Tailored integrations for your workflow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385048" y="5166360"/>
            <a:ext cx="91440" cy="91440"/>
          </a:xfrm>
          <a:prstGeom prst="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49640" y="5074920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Pricing and terms built around your scale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66760" y="5852160"/>
            <a:ext cx="3383280" cy="34747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66760" y="5870448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Contact the Team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71600" y="6464808"/>
            <a:ext cx="9418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1717A"/>
                </a:solidFill>
                <a:latin typeface="Segoe UI"/>
              </a:rPr>
              <a:t>All plans include 14-day free trial  •  No credit card required  •  Cancel anytime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9319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Why MoSPAMS?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Segoe UI"/>
              </a:rPr>
              <a:t>The smartest way to run your motorcycle 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11430000" cy="1371600"/>
          </a:xfrm>
          <a:prstGeom prst="rect">
            <a:avLst/>
          </a:prstGeom>
          <a:solidFill>
            <a:srgbClr val="18181B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783080"/>
            <a:ext cx="502920" cy="502920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916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Stop Losing Money to Manual Errors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Handwritten records and spreadsheets cause stock discrepancies, missed charges, and lost revenue. MoSPAMS eliminates these by keeping every part, job, and transaction in one accurate system.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10312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13055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Automated stock updates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210312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13055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Accurate invoices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84080" y="210312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0" y="213055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Zero double-entry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154680"/>
            <a:ext cx="11430000" cy="1371600"/>
          </a:xfrm>
          <a:prstGeom prst="rect">
            <a:avLst/>
          </a:prstGeom>
          <a:solidFill>
            <a:srgbClr val="18181B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337560"/>
            <a:ext cx="502920" cy="502920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3375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2461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Run a Faster, More Organized Shop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611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From creating a service job to processing payment, MoSPAMS shortens every workflow. Mechanics see their jobs instantly, staff record sales in seconds, and owners get reports with one click.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65760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368503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Mechanic job queue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80" y="365760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368503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Fast POS-style sales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365760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368503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One-click reports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709160"/>
            <a:ext cx="11430000" cy="1371600"/>
          </a:xfrm>
          <a:prstGeom prst="rect">
            <a:avLst/>
          </a:prstGeom>
          <a:solidFill>
            <a:srgbClr val="18181B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892040"/>
            <a:ext cx="502920" cy="502920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920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48006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Grow With Real 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51663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Segoe UI"/>
              </a:rPr>
              <a:t>MoSPAMS gives you the business intelligence to make smart decisions — which parts sell most, which services earn most, and which mechanics are most productive.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0" y="521208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523951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Sales trend reports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83880" y="521208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523951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Income breakdowns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84080" y="5212080"/>
            <a:ext cx="1371600" cy="256032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0" y="523951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Segoe UI"/>
              </a:rPr>
              <a:t>Performance KPIs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71600" y="5989320"/>
            <a:ext cx="9418320" cy="594360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0" y="6053328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Ready to transform your shop?  →  mospams.shop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922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1717A"/>
                </a:solidFill>
                <a:latin typeface="Segoe UI"/>
              </a:rPr>
              <a:t>MoSPAMS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0" y="64922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1717A"/>
                </a:solidFill>
                <a:latin typeface="Segoe UI"/>
              </a:rPr>
              <a:t>mospams.shop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Segoe UI"/>
              </a:rPr>
              <a:t>Get started today 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331720"/>
            <a:ext cx="9418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A1A1AA"/>
                </a:solidFill>
                <a:latin typeface="Segoe UI"/>
              </a:rPr>
              <a:t>your shop deserves better tools.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2461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1A1AA"/>
                </a:solidFill>
                <a:latin typeface="Segoe UI"/>
              </a:rPr>
              <a:t>MoSPAMS — Motorcycle Service and Parts Management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0" y="3840480"/>
            <a:ext cx="2377440" cy="4572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090B"/>
                </a:solidFill>
                <a:latin typeface="Segoe UI"/>
              </a:rPr>
              <a:t>Start free trial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3840480"/>
            <a:ext cx="2377440" cy="457200"/>
          </a:xfrm>
          <a:prstGeom prst="rect">
            <a:avLst/>
          </a:prstGeom>
          <a:solidFill>
            <a:srgbClr val="27272A"/>
          </a:solidFill>
          <a:ln w="63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View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754880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A1A1AA"/>
                </a:solidFill>
                <a:latin typeface="Segoe UI"/>
              </a:rPr>
              <a:t>mospams.shop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34924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1717A"/>
                </a:solidFill>
                <a:latin typeface="Segoe UI"/>
              </a:rPr>
              <a:t>support@mospams.shop  •  14-day free trial  •  No credit card required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28800" y="5989320"/>
            <a:ext cx="8503920" cy="0"/>
          </a:xfrm>
          <a:prstGeom prst="line">
            <a:avLst/>
          </a:prstGeom>
          <a:ln w="6350">
            <a:solidFill>
              <a:srgbClr val="3F3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1717A"/>
                </a:solidFill>
                <a:latin typeface="Segoe UI"/>
              </a:rPr>
              <a:t>MoSPAMS — Confidential Product Overview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